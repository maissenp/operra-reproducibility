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E7C"/>
    <a:srgbClr val="7CA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-42" y="-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0569-B617-321C-BB00-C58C8D047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8BD68-8EDB-C750-DF24-7CB9ACE87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4A7B8-343D-B09F-345E-B9E8B502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B82E4-8B25-82D9-F3D3-A69CECC7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1B396-1CA3-6E0A-0D66-4676E94BA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3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E93A-0E39-94DD-2771-1517D665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4B9E9-02F8-0738-58F2-F57033B4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DD951-69AC-D338-5348-239C5AA7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E06A4-3923-3B31-F0EF-D9560061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D7DD7-7934-5C9A-CC8E-2839AA9C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61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A805-A4F9-CD95-84C9-C8B84D5C7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A0449-99C8-F13D-1845-F2C3EB26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025DF-6874-27AE-8568-9BBBF004B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BE0DC-45F3-9C0C-E0F5-EE7E3C5AB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4BA15-0132-B42D-4F5A-A7F65035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2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2C8C-B740-284C-E126-232527F39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B7A52-4A2B-1B82-023F-3E49CFB43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D6E09-1EC9-0820-B56B-E890F2315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A1454-2A95-F0DB-E27F-19920973A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2A5EA-C7CB-EE0F-54BF-E1E65F7D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3D496-7F4A-E379-352B-73A5CCBF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4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A465-6CA0-D558-6D49-04B51609A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8EA00-0564-C522-CF14-AC9B27C94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09FDE-51FE-8F49-0EE1-B2BAE0341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62D77-EE51-71E9-9A7D-83CFB822D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1CF0C-ECFA-F9E6-37F0-A07C86EB0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63CCFF-40F8-B9F9-EE69-86E95F5E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746DD-E55B-FF52-2DA7-9888DE49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66F79-5E78-59B4-BD00-CF45AB30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7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24C1-9CDE-D277-9EEE-858F5F2D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4694D-8B14-A31B-9D85-9D47B1170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268D0-F028-0A24-5388-F36B198A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E0A27-FCBF-AD08-5C56-B9F64AAE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7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5B599-6833-DEC0-A27D-51333F02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0F645-0CD1-17EA-0B00-8917472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E7652-3914-FC49-C4DB-E7FD6DFCA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3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82058-1786-17EC-87EB-5CDE6D9E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AAA4C-1C0B-8014-C50D-AB53C9CDF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80040-F389-7BD3-8DD3-B8A1103F5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B94A5-D9C2-B723-42FF-F1F7A2EC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9793D-9831-F8B7-E7E3-246C47C7D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043B1-72ED-F17C-ED6E-045AFF16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8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2ED4-9B89-C49D-ABC7-9A1CA2AA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FFFC53-DEE2-BB00-1C64-2BD1405B6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6AEFC-5AA8-3D88-A944-13BCADEDD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F7B3F-A870-9308-E121-D216F16F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40ED3-0613-5721-D9D7-26AE96A8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4A6E3-A770-A14E-2F77-6EB9F6CB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03FFA-9E0B-7546-3ED5-89464626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EF4B2-37B8-1BE8-D80D-DF825D361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9FE89-D427-441D-EB5F-F55D2B097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6203C-662C-8E9D-EBC1-2305C474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60579-4E71-11B8-3C8B-53EA81DC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8E96D-00A6-E6B1-7CBF-B36C96C77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359D8-7EFD-6625-0B77-9E1DF434B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4E1F9-BE37-1AD4-83A6-0D9B57DEA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4EB93-BBC3-71E0-76B8-78A61D01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1F30A-E222-3A92-97C0-B44A9B82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2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9CB956-D8F5-13F0-48EB-9C5330660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E6270-DCDD-F713-26A6-B4ADF9EB4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C0867-32B9-8601-A1AD-58808D9D2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50D73-7E6E-2AB9-4368-01ED80474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BEF09-5C25-CCF5-00E9-C75E1E4E6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1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Link with solid fill">
            <a:extLst>
              <a:ext uri="{FF2B5EF4-FFF2-40B4-BE49-F238E27FC236}">
                <a16:creationId xmlns:a16="http://schemas.microsoft.com/office/drawing/2014/main" id="{22BB9FE8-2A51-269E-58A5-C11B906CB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58660" y="6261017"/>
            <a:ext cx="350080" cy="350080"/>
          </a:xfrm>
          <a:prstGeom prst="rect">
            <a:avLst/>
          </a:prstGeom>
        </p:spPr>
      </p:pic>
      <p:pic>
        <p:nvPicPr>
          <p:cNvPr id="7" name="Graphic 6" descr="Document with solid fill">
            <a:extLst>
              <a:ext uri="{FF2B5EF4-FFF2-40B4-BE49-F238E27FC236}">
                <a16:creationId xmlns:a16="http://schemas.microsoft.com/office/drawing/2014/main" id="{6011823C-D624-D80E-0CB6-54B4B62B43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8087" y="1205493"/>
            <a:ext cx="486918" cy="486918"/>
          </a:xfrm>
          <a:prstGeom prst="rect">
            <a:avLst/>
          </a:prstGeom>
        </p:spPr>
      </p:pic>
      <p:pic>
        <p:nvPicPr>
          <p:cNvPr id="9" name="Graphic 8" descr="List with solid fill">
            <a:extLst>
              <a:ext uri="{FF2B5EF4-FFF2-40B4-BE49-F238E27FC236}">
                <a16:creationId xmlns:a16="http://schemas.microsoft.com/office/drawing/2014/main" id="{ED84B021-D3DD-7AF4-29FA-2B12C5A1ED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4338" y="3637305"/>
            <a:ext cx="506818" cy="509656"/>
          </a:xfrm>
          <a:prstGeom prst="rect">
            <a:avLst/>
          </a:prstGeom>
        </p:spPr>
      </p:pic>
      <p:pic>
        <p:nvPicPr>
          <p:cNvPr id="11" name="Graphic 10" descr="Meeting with solid fill">
            <a:extLst>
              <a:ext uri="{FF2B5EF4-FFF2-40B4-BE49-F238E27FC236}">
                <a16:creationId xmlns:a16="http://schemas.microsoft.com/office/drawing/2014/main" id="{672D2C39-3B15-864A-537A-E62118B145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08448" y="5187349"/>
            <a:ext cx="914400" cy="914400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505F6D3A-EBDA-E269-EF28-54C32103E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707" y="1186762"/>
            <a:ext cx="486918" cy="48691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71E6459-7A29-4FE7-3591-2C549CC00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099" y="982044"/>
            <a:ext cx="5206539" cy="292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1F90FA82-56EE-AAE9-3E8C-594BEB69C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6707" y="1186762"/>
            <a:ext cx="486918" cy="486918"/>
          </a:xfrm>
          <a:prstGeom prst="rect">
            <a:avLst/>
          </a:prstGeom>
        </p:spPr>
      </p:pic>
      <p:pic>
        <p:nvPicPr>
          <p:cNvPr id="15" name="Graphic 14" descr="Open folder with solid fill">
            <a:extLst>
              <a:ext uri="{FF2B5EF4-FFF2-40B4-BE49-F238E27FC236}">
                <a16:creationId xmlns:a16="http://schemas.microsoft.com/office/drawing/2014/main" id="{4F0339F7-FA3E-3CEA-6DB9-801EAF8710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77268" y="6261017"/>
            <a:ext cx="509348" cy="50934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788D055-0FE4-EA4E-E136-9BBAEF53DF5E}"/>
              </a:ext>
            </a:extLst>
          </p:cNvPr>
          <p:cNvSpPr txBox="1"/>
          <p:nvPr/>
        </p:nvSpPr>
        <p:spPr>
          <a:xfrm>
            <a:off x="1202228" y="2627314"/>
            <a:ext cx="3361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1E7C"/>
                </a:solidFill>
                <a:latin typeface="+mj-lt"/>
              </a:rPr>
              <a:t>Archive with DOI (e.g., Zenodo entry)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DE7378-2B51-6E5D-3DEC-3499A4C9AAEE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940166" y="1673680"/>
            <a:ext cx="0" cy="930175"/>
          </a:xfrm>
          <a:prstGeom prst="straightConnector1">
            <a:avLst/>
          </a:prstGeom>
          <a:ln>
            <a:solidFill>
              <a:srgbClr val="7CA0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A6506A-0F3A-35C8-8A80-F8C290C4246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493166" y="1673680"/>
            <a:ext cx="243459" cy="930175"/>
          </a:xfrm>
          <a:prstGeom prst="straightConnector1">
            <a:avLst/>
          </a:prstGeom>
          <a:ln>
            <a:solidFill>
              <a:srgbClr val="7CA0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08A3C88-8FF6-46F2-E3A8-3BC408561F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137886" y="1692411"/>
            <a:ext cx="253660" cy="911444"/>
          </a:xfrm>
          <a:prstGeom prst="straightConnector1">
            <a:avLst/>
          </a:prstGeom>
          <a:ln>
            <a:solidFill>
              <a:srgbClr val="7CA0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Graphic 57" descr="Filing Box Archive with solid fill">
            <a:extLst>
              <a:ext uri="{FF2B5EF4-FFF2-40B4-BE49-F238E27FC236}">
                <a16:creationId xmlns:a16="http://schemas.microsoft.com/office/drawing/2014/main" id="{C88886AF-589D-7569-32CE-9C29EDC5B4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6952" y="2900808"/>
            <a:ext cx="518144" cy="518144"/>
          </a:xfrm>
          <a:prstGeom prst="rect">
            <a:avLst/>
          </a:prstGeom>
        </p:spPr>
      </p:pic>
      <p:pic>
        <p:nvPicPr>
          <p:cNvPr id="60" name="Graphic 59" descr="Share with solid fill">
            <a:extLst>
              <a:ext uri="{FF2B5EF4-FFF2-40B4-BE49-F238E27FC236}">
                <a16:creationId xmlns:a16="http://schemas.microsoft.com/office/drawing/2014/main" id="{32CCC9C5-532B-0B53-AD2E-DFEB9F6E057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35380" y="896811"/>
            <a:ext cx="914400" cy="9144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A0FB9CB2-1D26-4463-DBF1-AA71F2A56DD3}"/>
              </a:ext>
            </a:extLst>
          </p:cNvPr>
          <p:cNvSpPr txBox="1"/>
          <p:nvPr/>
        </p:nvSpPr>
        <p:spPr>
          <a:xfrm>
            <a:off x="1804196" y="2869151"/>
            <a:ext cx="28807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1E7C"/>
                </a:solidFill>
                <a:latin typeface="+mj-lt"/>
              </a:rPr>
              <a:t>Files uploaded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7C"/>
                </a:solidFill>
                <a:latin typeface="+mj-lt"/>
              </a:rPr>
              <a:t>Release (e.g., .zip) with version tag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7C"/>
                </a:solidFill>
                <a:latin typeface="+mj-lt"/>
              </a:rPr>
              <a:t>New uploads assign a new DOI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7C"/>
                </a:solidFill>
                <a:latin typeface="+mj-lt"/>
              </a:rPr>
              <a:t>But there is a DOI to find all versions </a:t>
            </a:r>
          </a:p>
          <a:p>
            <a:r>
              <a:rPr lang="en-US" sz="1200" b="1" dirty="0">
                <a:solidFill>
                  <a:srgbClr val="001E7C"/>
                </a:solidFill>
                <a:latin typeface="+mj-lt"/>
              </a:rPr>
              <a:t>Metadata</a:t>
            </a:r>
            <a:r>
              <a:rPr lang="en-US" sz="1200" dirty="0">
                <a:solidFill>
                  <a:srgbClr val="001E7C"/>
                </a:solidFill>
                <a:latin typeface="+mj-lt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1E7C"/>
                </a:solidFill>
                <a:latin typeface="+mj-lt"/>
              </a:rPr>
              <a:t>URL</a:t>
            </a:r>
            <a:r>
              <a:rPr lang="en-US" sz="1200" dirty="0">
                <a:solidFill>
                  <a:srgbClr val="001E7C"/>
                </a:solidFill>
                <a:latin typeface="+mj-lt"/>
              </a:rPr>
              <a:t> to Git repository (‘software’ field)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7C"/>
                </a:solidFill>
                <a:latin typeface="+mj-lt"/>
              </a:rPr>
              <a:t>It can be edited without a new DOI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8B876C24-12A8-46A1-0124-6AC189D49AAA}"/>
              </a:ext>
            </a:extLst>
          </p:cNvPr>
          <p:cNvSpPr txBox="1"/>
          <p:nvPr/>
        </p:nvSpPr>
        <p:spPr>
          <a:xfrm>
            <a:off x="1134657" y="665681"/>
            <a:ext cx="2579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CA023"/>
                </a:solidFill>
                <a:latin typeface="+mj-lt"/>
              </a:rPr>
              <a:t>Journal publications  </a:t>
            </a:r>
          </a:p>
          <a:p>
            <a:r>
              <a:rPr lang="en-US" sz="1200" dirty="0">
                <a:solidFill>
                  <a:srgbClr val="7CA023"/>
                </a:solidFill>
                <a:latin typeface="+mj-lt"/>
              </a:rPr>
              <a:t>Reference to code DOI</a:t>
            </a:r>
            <a:endParaRPr lang="en-US" sz="1400" b="1" dirty="0">
              <a:solidFill>
                <a:srgbClr val="7CA023"/>
              </a:solidFill>
              <a:latin typeface="+mj-lt"/>
            </a:endParaRPr>
          </a:p>
        </p:txBody>
      </p: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0475CA56-5F15-1449-B0C1-DCF402ADB630}"/>
              </a:ext>
            </a:extLst>
          </p:cNvPr>
          <p:cNvGrpSpPr/>
          <p:nvPr/>
        </p:nvGrpSpPr>
        <p:grpSpPr>
          <a:xfrm>
            <a:off x="1308740" y="4818398"/>
            <a:ext cx="3501791" cy="951838"/>
            <a:chOff x="1377268" y="4394316"/>
            <a:chExt cx="3501791" cy="951838"/>
          </a:xfrm>
        </p:grpSpPr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E14F61B6-5348-BB90-28A5-7DF5120158F3}"/>
                </a:ext>
              </a:extLst>
            </p:cNvPr>
            <p:cNvSpPr txBox="1"/>
            <p:nvPr/>
          </p:nvSpPr>
          <p:spPr>
            <a:xfrm>
              <a:off x="1377268" y="4394316"/>
              <a:ext cx="33614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7CA023"/>
                  </a:solidFill>
                  <a:latin typeface="+mj-lt"/>
                </a:rPr>
                <a:t>Git repository (e.g., Gitlab)</a:t>
              </a:r>
            </a:p>
          </p:txBody>
        </p:sp>
        <p:pic>
          <p:nvPicPr>
            <p:cNvPr id="1040" name="Graphic 1039">
              <a:extLst>
                <a:ext uri="{FF2B5EF4-FFF2-40B4-BE49-F238E27FC236}">
                  <a16:creationId xmlns:a16="http://schemas.microsoft.com/office/drawing/2014/main" id="{15AD1603-86A8-D7C9-8042-D353054B3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478186" y="4732870"/>
              <a:ext cx="515182" cy="515180"/>
            </a:xfrm>
            <a:prstGeom prst="rect">
              <a:avLst/>
            </a:prstGeom>
          </p:spPr>
        </p:pic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12BFACEB-65A6-F808-CFFE-E61313DAA9E8}"/>
                </a:ext>
              </a:extLst>
            </p:cNvPr>
            <p:cNvSpPr txBox="1"/>
            <p:nvPr/>
          </p:nvSpPr>
          <p:spPr>
            <a:xfrm>
              <a:off x="1998284" y="4699823"/>
              <a:ext cx="28807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7CA023"/>
                  </a:solidFill>
                  <a:latin typeface="+mj-lt"/>
                </a:rPr>
                <a:t>Active code development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7CA023"/>
                  </a:solidFill>
                  <a:latin typeface="+mj-lt"/>
                </a:rPr>
                <a:t>Version tagged ‘releases’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7CA023"/>
                  </a:solidFill>
                  <a:latin typeface="+mj-lt"/>
                </a:rPr>
                <a:t>Link to Zenodo publication</a:t>
              </a:r>
            </a:p>
          </p:txBody>
        </p:sp>
      </p:grp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1AF35BD0-635D-18BF-2587-A03A86EAE8AA}"/>
              </a:ext>
            </a:extLst>
          </p:cNvPr>
          <p:cNvCxnSpPr>
            <a:cxnSpLocks/>
          </p:cNvCxnSpPr>
          <p:nvPr/>
        </p:nvCxnSpPr>
        <p:spPr>
          <a:xfrm flipV="1">
            <a:off x="1956282" y="4322635"/>
            <a:ext cx="0" cy="497071"/>
          </a:xfrm>
          <a:prstGeom prst="straightConnector1">
            <a:avLst/>
          </a:prstGeom>
          <a:ln>
            <a:solidFill>
              <a:srgbClr val="7CA0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853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85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Gorka Fraga Gonzalez</dc:creator>
  <cp:lastModifiedBy>Gorka Fraga Gonzalez</cp:lastModifiedBy>
  <cp:revision>2</cp:revision>
  <dcterms:created xsi:type="dcterms:W3CDTF">2025-10-20T13:34:56Z</dcterms:created>
  <dcterms:modified xsi:type="dcterms:W3CDTF">2025-10-20T14:17:39Z</dcterms:modified>
</cp:coreProperties>
</file>